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8" r:id="rId9"/>
    <p:sldId id="262" r:id="rId10"/>
    <p:sldId id="263" r:id="rId11"/>
    <p:sldId id="266" r:id="rId12"/>
    <p:sldId id="265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  <p:sldId id="279" r:id="rId26"/>
    <p:sldId id="281" r:id="rId27"/>
    <p:sldId id="282" r:id="rId28"/>
    <p:sldId id="280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0" r:id="rId37"/>
    <p:sldId id="293" r:id="rId38"/>
    <p:sldId id="292" r:id="rId39"/>
    <p:sldId id="295" r:id="rId40"/>
    <p:sldId id="294" r:id="rId41"/>
    <p:sldId id="296" r:id="rId42"/>
    <p:sldId id="297" r:id="rId43"/>
    <p:sldId id="300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1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0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4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4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1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1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2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6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0475B-1CA1-4E14-B083-631D3C3B5151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DD5D0-AF37-4415-829A-A7D285134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4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" TargetMode="External"/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nalyticsvidhya.com/blog/2020/10/a-definitive-guide-for-predicting-customer-lifetime-value-clv/" TargetMode="External"/><Relationship Id="rId4" Type="http://schemas.openxmlformats.org/officeDocument/2006/relationships/hyperlink" Target="https://pypi.org/project/pandas-profil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06594"/>
            <a:ext cx="9144000" cy="1689401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Customer Lifetime Value Prediction</a:t>
            </a:r>
            <a:endParaRPr lang="en-US" sz="54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69062"/>
            <a:ext cx="9144000" cy="401551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Bahnschrift" panose="020B0502040204020203" pitchFamily="34" charset="0"/>
              </a:rPr>
              <a:t>AML 2203 Advanced Python AI and ML Tools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pic>
        <p:nvPicPr>
          <p:cNvPr id="1026" name="Picture 2" descr="Lambton College - Study Ontario Ca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49297"/>
            <a:ext cx="1940541" cy="57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526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Team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304400"/>
              </p:ext>
            </p:extLst>
          </p:nvPr>
        </p:nvGraphicFramePr>
        <p:xfrm>
          <a:off x="838200" y="2356022"/>
          <a:ext cx="10515600" cy="2110195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2469316"/>
                <a:gridCol w="5414383"/>
                <a:gridCol w="2631901"/>
              </a:tblGrid>
              <a:tr h="42203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First name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Last Name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Student number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</a:tr>
              <a:tr h="42203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Amrita Kaur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Badhan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C0928455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</a:tr>
              <a:tr h="42203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Jaldhi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Shah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C0924359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</a:tr>
              <a:tr h="42203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Mohamed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Gaafar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C0905127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</a:tr>
              <a:tr h="42203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Mukul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Sharma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C0926138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8334" marR="88334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09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Problem Definition</a:t>
            </a:r>
            <a:endParaRPr lang="en-US" sz="48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3076" name="Picture 4" descr="Customer Loyalty: How to Calculate Customer Lifetime Value (CLV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853" y="1825625"/>
            <a:ext cx="719229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01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Benefits and Use Cases</a:t>
            </a:r>
            <a:endParaRPr lang="en-US" sz="48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4098" name="Picture 2" descr="Customer lifetime value (CLV): What it is + how to calculate it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14" r="-293"/>
          <a:stretch/>
        </p:blipFill>
        <p:spPr bwMode="auto">
          <a:xfrm>
            <a:off x="838200" y="1690688"/>
            <a:ext cx="10515600" cy="4676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28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Modeling Methods</a:t>
            </a:r>
            <a:endParaRPr lang="en-US" sz="48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7170" name="Picture 2" descr="Machine Learning Logo Images – Browse 40,064 Stock Photos, Vectors, and  Video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837" y="1935893"/>
            <a:ext cx="2568641" cy="256864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Deep Learning PNG Transparent Images Free Download | Vector Files | Pngtre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7" t="14593" r="15718" b="8798"/>
          <a:stretch/>
        </p:blipFill>
        <p:spPr bwMode="auto">
          <a:xfrm>
            <a:off x="6314236" y="2050127"/>
            <a:ext cx="2061572" cy="229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Classification icon vector. Trendy flat classification icon from general  collection isolated on white background. Vector illustration can be used  for web and mobile graphic design, logo, eps10 Stock Vector | Adobe Stock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56" t="16381" r="26131" b="5090"/>
          <a:stretch/>
        </p:blipFill>
        <p:spPr bwMode="auto">
          <a:xfrm>
            <a:off x="8375808" y="2050127"/>
            <a:ext cx="1448214" cy="237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Segmentation icon monochrome sign from corporate Vector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9" t="13562" r="7862" b="16284"/>
          <a:stretch/>
        </p:blipFill>
        <p:spPr bwMode="auto">
          <a:xfrm>
            <a:off x="9824022" y="2347784"/>
            <a:ext cx="1639330" cy="155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Premium Vector | Historical data handling concept icon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1" t="11588" r="18332" b="22925"/>
          <a:stretch/>
        </p:blipFill>
        <p:spPr bwMode="auto">
          <a:xfrm>
            <a:off x="987998" y="2050127"/>
            <a:ext cx="1978366" cy="229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Probability and statistics blue gradient concept Vector Imag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1" t="9107" r="23749" b="17768"/>
          <a:stretch/>
        </p:blipFill>
        <p:spPr bwMode="auto">
          <a:xfrm>
            <a:off x="2936306" y="2126663"/>
            <a:ext cx="1581828" cy="221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4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About Our Data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5124" name="Picture 4" descr="Microsoft Sto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323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QL Server Management Studio. In this article we are going to know… | by  Rohit Patil | Mediu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43"/>
          <a:stretch/>
        </p:blipFill>
        <p:spPr bwMode="auto">
          <a:xfrm>
            <a:off x="3792343" y="2456034"/>
            <a:ext cx="2387559" cy="253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DAX sample model - DAX | Microsoft Learn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998" y="2891244"/>
            <a:ext cx="1488990" cy="148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Free Download: SQL Server Management Studio 18.11.1 – Technology News and  Information by SeniorDB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2" r="12947"/>
          <a:stretch/>
        </p:blipFill>
        <p:spPr bwMode="auto">
          <a:xfrm>
            <a:off x="5781847" y="2343429"/>
            <a:ext cx="3608173" cy="244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Azure Data Studio on X: &quot;The August release of Azure Data Studio is now  available. This includes a new update to the SandDance visualizer  extension, new notebook improvements, and AAD support in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9"/>
          <a:stretch/>
        </p:blipFill>
        <p:spPr bwMode="auto">
          <a:xfrm>
            <a:off x="9323774" y="2555730"/>
            <a:ext cx="1746421" cy="199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97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Accusation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6152" name="Picture 8" descr="r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5"/>
          <a:stretch>
            <a:fillRect/>
          </a:stretch>
        </p:blipFill>
        <p:spPr bwMode="auto">
          <a:xfrm>
            <a:off x="838200" y="1899465"/>
            <a:ext cx="59436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 descr="r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35" b="3456"/>
          <a:stretch>
            <a:fillRect/>
          </a:stretch>
        </p:blipFill>
        <p:spPr bwMode="auto">
          <a:xfrm>
            <a:off x="5557085" y="2745132"/>
            <a:ext cx="5989983" cy="324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576" y="5044706"/>
            <a:ext cx="952509" cy="9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42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Accusation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4236308" y="1964372"/>
            <a:ext cx="6360762" cy="3134850"/>
          </a:xfrm>
          <a:prstGeom prst="rect">
            <a:avLst/>
          </a:prstGeom>
        </p:spPr>
      </p:pic>
      <p:pic>
        <p:nvPicPr>
          <p:cNvPr id="6150" name="Picture 6" descr="Sql Query Icon Royalty-Free Images, Stock Photos &amp; Picture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9"/>
          <a:stretch/>
        </p:blipFill>
        <p:spPr bwMode="auto">
          <a:xfrm>
            <a:off x="1457153" y="2318599"/>
            <a:ext cx="2476500" cy="242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81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About Our Data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133600" y="1848922"/>
            <a:ext cx="7776519" cy="398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5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Pre-Processing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133600" y="1848922"/>
            <a:ext cx="7776519" cy="398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7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Cleaning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3641124" y="2671762"/>
            <a:ext cx="4088413" cy="189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7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transforming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19378" y="2484136"/>
            <a:ext cx="3957337" cy="238442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938971" y="2403780"/>
            <a:ext cx="1562478" cy="24647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588" y="3636170"/>
            <a:ext cx="952509" cy="9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46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Integrity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3837288" y="1974249"/>
            <a:ext cx="2095500" cy="287655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771302" y="2337786"/>
            <a:ext cx="2329180" cy="214947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4"/>
          <a:stretch>
            <a:fillRect/>
          </a:stretch>
        </p:blipFill>
        <p:spPr>
          <a:xfrm>
            <a:off x="6331534" y="810928"/>
            <a:ext cx="1407160" cy="520319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5"/>
          <a:stretch>
            <a:fillRect/>
          </a:stretch>
        </p:blipFill>
        <p:spPr>
          <a:xfrm>
            <a:off x="8137440" y="2069499"/>
            <a:ext cx="29432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14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Outliers Detection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10242" name="Picture 2" descr="o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78942"/>
            <a:ext cx="3034999" cy="2124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 descr="o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508" y="1438710"/>
            <a:ext cx="3792880" cy="2480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 descr="o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006" y="2533804"/>
            <a:ext cx="3512794" cy="2458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 descr="o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447" y="3975969"/>
            <a:ext cx="3792880" cy="253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8701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03523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Analysis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378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151" y="2572866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Correlation </a:t>
            </a:r>
            <a:b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</a:br>
            <a: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Analysis: </a:t>
            </a:r>
            <a:b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</a:br>
            <a: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Pair plot </a:t>
            </a:r>
            <a:b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</a:br>
            <a:r>
              <a:rPr lang="en-US" sz="4800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(Scatter plot)</a:t>
            </a:r>
            <a:endParaRPr lang="en-US" sz="4800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11266" name="Picture 2" descr="sc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151" y="453081"/>
            <a:ext cx="59436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7731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EDA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06022"/>
            <a:ext cx="3782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are the Sales Trends over Time?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290" name="Picture 2" descr="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985" y="2080698"/>
            <a:ext cx="6670029" cy="3858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673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EDA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06022"/>
            <a:ext cx="3782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are the Sales Trends over Time?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3314" name="Picture 2" descr="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633" y="2072460"/>
            <a:ext cx="6558734" cy="3926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795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EDA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06022"/>
            <a:ext cx="3782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are the Sales Trends over Time?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4338" name="Picture 2" descr="e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060" y="2088935"/>
            <a:ext cx="6817068" cy="3932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280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EDA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06022"/>
            <a:ext cx="3782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are the Sales Trends over Time?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362" name="Picture 2" descr="e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434" y="2154839"/>
            <a:ext cx="6985132" cy="4130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7480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EDA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06022"/>
            <a:ext cx="3782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are the Sales Trends over Time?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386" name="Picture 2" descr="e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71314"/>
            <a:ext cx="5302260" cy="2812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 descr="e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460" y="2937433"/>
            <a:ext cx="5302576" cy="292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2468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EDA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06022"/>
            <a:ext cx="4156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are the number of order over time?</a:t>
            </a:r>
            <a:endParaRPr lang="en-US" dirty="0"/>
          </a:p>
        </p:txBody>
      </p:sp>
      <p:pic>
        <p:nvPicPr>
          <p:cNvPr id="17410" name="Picture 2" descr="e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956" y="2113649"/>
            <a:ext cx="7328088" cy="395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7531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EDA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06022"/>
            <a:ext cx="2975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Top customers and products?</a:t>
            </a:r>
            <a:endParaRPr lang="en-US" dirty="0"/>
          </a:p>
        </p:txBody>
      </p:sp>
      <p:pic>
        <p:nvPicPr>
          <p:cNvPr id="18434" name="Picture 2" descr="c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77" y="2286644"/>
            <a:ext cx="452437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 descr="p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10444"/>
            <a:ext cx="455295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1418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03523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Processing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517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Outliers Trimming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19463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054" y="1919288"/>
            <a:ext cx="540067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054" y="2490788"/>
            <a:ext cx="5486400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1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054" y="3014663"/>
            <a:ext cx="530542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2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054" y="3586163"/>
            <a:ext cx="569595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9" name="Picture 2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054" y="4138613"/>
            <a:ext cx="52673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8" name="Picture 2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054" y="4757738"/>
            <a:ext cx="5238750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7" name="Picture 2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054" y="5300663"/>
            <a:ext cx="5248275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842054" y="16906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842054" y="27193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842054" y="32432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2842054" y="3814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842054" y="43672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2842054" y="4986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2842054" y="55292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2842054" y="6129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07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Features Engineering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873787" y="1927655"/>
            <a:ext cx="6444425" cy="400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65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Features Engineering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873787" y="1927655"/>
            <a:ext cx="6444425" cy="400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13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Metrics Calculation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690688"/>
            <a:ext cx="101593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Frequency — the number of repeat purchases (more than 1 purchases)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Recency — the time between the first and the last transaction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T — the time between the first purchase and the end of the transaction period (last date of the time frame considered for the analysis)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Monetary Value — it is the mean of a given customers sales value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49876" y="3250395"/>
            <a:ext cx="4535962" cy="330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72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03523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Modeling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426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Data Preparation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271" y="1690688"/>
            <a:ext cx="8069457" cy="410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95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Method 1: [Benchmark] Historical CLV 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47783" y="2386562"/>
            <a:ext cx="77270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Calculate AVP = Total Revenue/ Number of Purchases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Calculate APFR = Number of Purchases/ Number of Unique Periods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Calculate CV = APV * APFR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Calculate ACL = Last Purchase - First Purchase (in years)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Calculate CLV = CV * ACL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Calculate </a:t>
            </a:r>
            <a:r>
              <a:rPr lang="en-US" b="0" dirty="0" err="1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Adjusted_CLV</a:t>
            </a: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= CLV* Average gross margin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Calculate </a:t>
            </a:r>
            <a:r>
              <a:rPr lang="en-US" b="0" dirty="0" err="1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Predectied_CLV</a:t>
            </a: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for next 6 months = CLV * (0.5 / Period in years)</a:t>
            </a:r>
            <a:endParaRPr lang="en-US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Calculate </a:t>
            </a:r>
            <a:r>
              <a:rPr lang="en-US" b="0" dirty="0" err="1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Adjusted_Predicted_CLV</a:t>
            </a: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= </a:t>
            </a:r>
            <a:r>
              <a:rPr lang="en-US" b="0" dirty="0" err="1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Predectied_CLV</a:t>
            </a:r>
            <a:r>
              <a:rPr lang="en-US" b="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* Average gross margin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272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Method 2: Probabilistic BG/NBD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31748" name="Picture 4" descr="How Shopify Merchants can Measure Reten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79405"/>
            <a:ext cx="5715000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50" name="Picture 6" descr="In travel retailing, some customers are more equal than others (part 2) |  by The OpenJaw Data Science Team | The OpenJaw Data Science Blog | Mediu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"/>
          <a:stretch/>
        </p:blipFill>
        <p:spPr bwMode="auto">
          <a:xfrm>
            <a:off x="5629012" y="2027484"/>
            <a:ext cx="5901859" cy="362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594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Method 2: Probabilistic BG/NBD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t="56901"/>
          <a:stretch/>
        </p:blipFill>
        <p:spPr bwMode="auto">
          <a:xfrm>
            <a:off x="1650402" y="2838797"/>
            <a:ext cx="8891195" cy="1414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86387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Method 3: Machine Learning Regression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33798" name="Picture 6" descr="The Math Behind XGBoost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825" y="1690688"/>
            <a:ext cx="6838350" cy="4336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014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Method 4: Deep Learning Linear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36866" name="Picture 2" descr="Why Linear Regression is All You Need | by Vinicius Monteiro | Towards Data  Sci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57" y="2247396"/>
            <a:ext cx="10419675" cy="3271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474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Method 5: Machine Learning Segmentation and Classification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35841" name="Picture 1" descr="k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787" y="2031271"/>
            <a:ext cx="5686425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0179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Method 5: Machine Learning Segmentation and Classification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37892" name="Picture 4" descr="K-means Clustering Algorithm: Applications, Types, and Demos [Updated] |  Simplilea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93" y="1970728"/>
            <a:ext cx="6032414" cy="37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951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Method 5: Machine Learning Segmentation and Classification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33794" name="Picture 2" descr="XGBoost Algorithm Explained in Less Than 5 Minutes | by Nilesh Verma | 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01" y="1779056"/>
            <a:ext cx="8074197" cy="452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5092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03523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Models Evaluation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2983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Regression Models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39938" name="Picture 2" descr="m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041" y="2281881"/>
            <a:ext cx="7739248" cy="3888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1400784"/>
            <a:ext cx="3285490" cy="194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223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Classification Model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1" t="56275" r="36611" b="17215"/>
          <a:stretch/>
        </p:blipFill>
        <p:spPr bwMode="auto">
          <a:xfrm>
            <a:off x="1830860" y="2388974"/>
            <a:ext cx="6865932" cy="27020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2"/>
          <a:srcRect t="94848" r="66832"/>
          <a:stretch/>
        </p:blipFill>
        <p:spPr bwMode="auto">
          <a:xfrm>
            <a:off x="5741773" y="4687329"/>
            <a:ext cx="4209535" cy="6153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533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03523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Results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71784" y="1588867"/>
            <a:ext cx="779299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CLV Prediction for 3,554 Customers: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Linear Deep Learning: </a:t>
            </a:r>
            <a:r>
              <a:rPr lang="en-US" sz="1400" dirty="0" smtClean="0"/>
              <a:t>RMSE 5.33 (Potentially over fitted)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XGBoost Regression: </a:t>
            </a:r>
            <a:r>
              <a:rPr lang="en-US" sz="1400" dirty="0" smtClean="0"/>
              <a:t>RMSE 294.28 (Best balance)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Historical CLV Benchmark: </a:t>
            </a:r>
            <a:r>
              <a:rPr lang="en-US" sz="1400" dirty="0" smtClean="0"/>
              <a:t>RMSE 4,406.50 (Simple 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 smtClean="0"/>
              <a:t>BG-NBD Probabilistic: </a:t>
            </a:r>
            <a:r>
              <a:rPr lang="en-US" sz="1400" dirty="0" smtClean="0"/>
              <a:t>RMSE 4,464.26 (Under fitted or incorrect implementation)</a:t>
            </a:r>
          </a:p>
          <a:p>
            <a:r>
              <a:rPr lang="en-US" sz="1400" dirty="0" smtClean="0"/>
              <a:t> </a:t>
            </a:r>
            <a:r>
              <a:rPr lang="en-US" sz="1400" b="1" dirty="0" smtClean="0"/>
              <a:t>Classification Model: </a:t>
            </a:r>
            <a:r>
              <a:rPr lang="en-US" sz="1400" dirty="0" smtClean="0"/>
              <a:t>98% accuracy across classes</a:t>
            </a:r>
          </a:p>
          <a:p>
            <a:endParaRPr lang="en-US" sz="1400" dirty="0" smtClean="0"/>
          </a:p>
          <a:p>
            <a:r>
              <a:rPr lang="en-US" sz="1400" b="1" dirty="0" smtClean="0"/>
              <a:t>Key 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93% of special offers utilized one specific offer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Sales increased in years 1-3, dropped in year 4 (only 6 months recorded)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Top customer by orders (500+) ≠ top customer by revenue ($800,000+)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Most popular product: 4,000+ orders; Top-selling product: 8,000+ units; Highest revenue-generating product: $4M</a:t>
            </a:r>
          </a:p>
          <a:p>
            <a:endParaRPr lang="en-US" sz="1400" dirty="0" smtClean="0"/>
          </a:p>
          <a:p>
            <a:r>
              <a:rPr lang="en-US" sz="1400" b="1" dirty="0" smtClean="0"/>
              <a:t>Data Processing:</a:t>
            </a:r>
          </a:p>
          <a:p>
            <a:r>
              <a:rPr lang="en-US" sz="1400" dirty="0" smtClean="0"/>
              <a:t>Queried 121,317 records, cleaned and pre-processed data, visualized distributions, and performed modeling and evaluation.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6893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438" y="768779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Conclusions and Future Work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Picture 2" descr="What is Customer Relationship Management (CRM)?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7" t="3509" r="25321" b="2090"/>
          <a:stretch/>
        </p:blipFill>
        <p:spPr bwMode="auto">
          <a:xfrm>
            <a:off x="2367355" y="2493486"/>
            <a:ext cx="2848705" cy="2751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2" name="Picture 2" descr="Deployment: What it is and what it is needed f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594" y="2094342"/>
            <a:ext cx="5324818" cy="354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148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0883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Bahnschrift" panose="020B0502040204020203" pitchFamily="34" charset="0"/>
              </a:rPr>
              <a:t>References</a:t>
            </a:r>
            <a:endParaRPr lang="en-US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3045782"/>
            <a:ext cx="9284043" cy="1574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1200"/>
              </a:spcBef>
              <a:buFont typeface="Symbol" panose="05050102010706020507" pitchFamily="18" charset="2"/>
              <a:buChar char=""/>
            </a:pPr>
            <a:r>
              <a:rPr lang="en-US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Scikit-learn Machine Learning in Python documentation: </a:t>
            </a:r>
            <a:r>
              <a:rPr lang="en-US" u="sng" kern="0" dirty="0" smtClean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https://scikit-learn.org/stable/</a:t>
            </a:r>
            <a:endParaRPr lang="en-US" sz="2800" kern="0" dirty="0" smtClean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Pandas documentation: </a:t>
            </a:r>
            <a:r>
              <a:rPr lang="en-US" u="sng" dirty="0" smtClea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https://pandas.pydata.org/docs/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Pandas profiling: </a:t>
            </a:r>
            <a:r>
              <a:rPr lang="en-US" u="sng" dirty="0" smtClea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https://pypi.org/project/pandas-profiling/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Customer Life Time Value Prediction: </a:t>
            </a:r>
            <a:r>
              <a:rPr lang="en-US" u="sng" dirty="0" smtClea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https://www.analyticsvidhya.com/blog/2020/10/a-definitive-guide-for-predicting-customer-lifetime-value-clv/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739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458</Words>
  <Application>Microsoft Office PowerPoint</Application>
  <PresentationFormat>Widescreen</PresentationFormat>
  <Paragraphs>98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Bahnschrift</vt:lpstr>
      <vt:lpstr>Calibri</vt:lpstr>
      <vt:lpstr>Calibri Light</vt:lpstr>
      <vt:lpstr>Symbol</vt:lpstr>
      <vt:lpstr>Times New Roman</vt:lpstr>
      <vt:lpstr>Office Theme</vt:lpstr>
      <vt:lpstr>Customer Lifetime Value Prediction</vt:lpstr>
      <vt:lpstr>Team</vt:lpstr>
      <vt:lpstr>Problem Definition</vt:lpstr>
      <vt:lpstr>Benefits and Use Cases</vt:lpstr>
      <vt:lpstr>Modeling Methods</vt:lpstr>
      <vt:lpstr>About Our Data</vt:lpstr>
      <vt:lpstr>Data Accusation</vt:lpstr>
      <vt:lpstr>Data Accusation</vt:lpstr>
      <vt:lpstr>About Our Data</vt:lpstr>
      <vt:lpstr>Data Pre-Processing</vt:lpstr>
      <vt:lpstr>Data Cleaning</vt:lpstr>
      <vt:lpstr>Data transforming</vt:lpstr>
      <vt:lpstr>Data Integrity</vt:lpstr>
      <vt:lpstr>Outliers Detection</vt:lpstr>
      <vt:lpstr>Data Analysis</vt:lpstr>
      <vt:lpstr>Correlation  Analysis:  Pair plot  (Scatter plot)</vt:lpstr>
      <vt:lpstr>EDA</vt:lpstr>
      <vt:lpstr>EDA</vt:lpstr>
      <vt:lpstr>EDA</vt:lpstr>
      <vt:lpstr>EDA</vt:lpstr>
      <vt:lpstr>EDA</vt:lpstr>
      <vt:lpstr>EDA</vt:lpstr>
      <vt:lpstr>EDA</vt:lpstr>
      <vt:lpstr>Data Processing</vt:lpstr>
      <vt:lpstr>Outliers Trimming</vt:lpstr>
      <vt:lpstr>Features Engineering</vt:lpstr>
      <vt:lpstr>Features Engineering</vt:lpstr>
      <vt:lpstr>Metrics Calculation</vt:lpstr>
      <vt:lpstr>Data Modeling</vt:lpstr>
      <vt:lpstr>Data Preparation</vt:lpstr>
      <vt:lpstr>Method 1: [Benchmark] Historical CLV </vt:lpstr>
      <vt:lpstr>Method 2: Probabilistic BG/NBD</vt:lpstr>
      <vt:lpstr>Method 2: Probabilistic BG/NBD</vt:lpstr>
      <vt:lpstr>Method 3: Machine Learning Regression</vt:lpstr>
      <vt:lpstr>Method 4: Deep Learning Linear</vt:lpstr>
      <vt:lpstr>Method 5: Machine Learning Segmentation and Classification</vt:lpstr>
      <vt:lpstr>Method 5: Machine Learning Segmentation and Classification</vt:lpstr>
      <vt:lpstr>Method 5: Machine Learning Segmentation and Classification</vt:lpstr>
      <vt:lpstr>Models Evaluation</vt:lpstr>
      <vt:lpstr>Regression Models</vt:lpstr>
      <vt:lpstr>Classification Model</vt:lpstr>
      <vt:lpstr>Results</vt:lpstr>
      <vt:lpstr>Conclusions and Future Work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Lifetime Value Prediction</dc:title>
  <dc:creator>Microsoft account</dc:creator>
  <cp:lastModifiedBy>Microsoft account</cp:lastModifiedBy>
  <cp:revision>12</cp:revision>
  <dcterms:created xsi:type="dcterms:W3CDTF">2024-08-12T15:00:20Z</dcterms:created>
  <dcterms:modified xsi:type="dcterms:W3CDTF">2024-08-12T16:42:34Z</dcterms:modified>
</cp:coreProperties>
</file>